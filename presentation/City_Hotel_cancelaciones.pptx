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tableStyles" Target="tableStyles.xml"/><Relationship Id="rId21" Type="http://schemas.openxmlformats.org/officeDocument/2006/relationships/viewProps" Target="view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73855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447043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42517701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6807861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9849521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74977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6794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777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 hotel urbano de Lisboa cancela 3 de cada 10 reservas. Hoy os enseño quién las cancela, por qué, y dónde concentrar el esfuerzo.</a:t>
            </a:r>
            <a:endParaRPr lang="en-US"/>
          </a:p>
        </p:txBody>
      </p:sp>
      <p:sp>
        <p:nvSpPr>
          <p:cNvPr id="5531611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1133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3067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84947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494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1489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77940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9454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122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60371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2105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69292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17606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4281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7859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60335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1565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624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05945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2814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3416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Mi primer instinto fue causal y estaba equivocado: el cruce reveló selección. Las Non Refund son reservas de larguísima antelación. Por eso NO recomiendo imponer depósitos.</a:t>
            </a:r>
            <a:endParaRPr lang="en-US"/>
          </a:p>
        </p:txBody>
      </p:sp>
      <p:sp>
        <p:nvSpPr>
          <p:cNvPr id="590845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327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7756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80326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011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56499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Este es el titular. Al combinar canal Online TA y antelación &gt;90 días la tasa salta al 44,7%, frente al 14,4% del grupo más seguro. Las señales interactúan.</a:t>
            </a:r>
            <a:endParaRPr lang="en-US"/>
          </a:p>
        </p:txBody>
      </p:sp>
      <p:sp>
        <p:nvSpPr>
          <p:cNvPr id="14725866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06949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34454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58771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4385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6585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59692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2422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82220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71772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6837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1217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58761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88188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74963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5148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public.tableau.com/app/profile/gonzalo.gil.pereira2437/viz/CityHotelFactoresdecancelacindereservas/Factoresdecancelacin" TargetMode="External"/><Relationship Id="rId4" Type="http://schemas.openxmlformats.org/officeDocument/2006/relationships/hyperlink" Target="https://github.com/GonzaloData/city-hotel-cancellation-analysis-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624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899430" name="Shape 0"/>
          <p:cNvSpPr/>
          <p:nvPr/>
        </p:nvSpPr>
        <p:spPr bwMode="auto">
          <a:xfrm>
            <a:off x="0" y="0"/>
            <a:ext cx="256032" cy="68580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836927689" name="Text 1"/>
          <p:cNvSpPr/>
          <p:nvPr/>
        </p:nvSpPr>
        <p:spPr bwMode="auto"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GOOGLE DATA ANALYTICS · CASE STUDY</a:t>
            </a:r>
            <a:endParaRPr lang="en-US" sz="1300"/>
          </a:p>
        </p:txBody>
      </p:sp>
      <p:sp>
        <p:nvSpPr>
          <p:cNvPr id="1978378409" name="Text 2"/>
          <p:cNvSpPr/>
          <p:nvPr/>
        </p:nvSpPr>
        <p:spPr bwMode="auto">
          <a:xfrm>
            <a:off x="822960" y="18288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4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¿Quién cancela en el City Hotel</a:t>
            </a:r>
            <a:endParaRPr lang="en-US" sz="4600"/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US" sz="4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— y por qué?</a:t>
            </a:r>
            <a:endParaRPr lang="en-US" sz="4600"/>
          </a:p>
        </p:txBody>
      </p:sp>
      <p:sp>
        <p:nvSpPr>
          <p:cNvPr id="1601451857" name="Text 3"/>
          <p:cNvSpPr/>
          <p:nvPr/>
        </p:nvSpPr>
        <p:spPr bwMode="auto">
          <a:xfrm>
            <a:off x="822960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Factores de cancelación en 53.050 reservas · julio 2015 – agosto 2017</a:t>
            </a:r>
            <a:endParaRPr lang="en-US" sz="1800"/>
          </a:p>
        </p:txBody>
      </p:sp>
      <p:sp>
        <p:nvSpPr>
          <p:cNvPr id="1856171038" name="Text 4"/>
          <p:cNvSpPr/>
          <p:nvPr/>
        </p:nvSpPr>
        <p:spPr bwMode="auto"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Gonzalo</a:t>
            </a: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 xml:space="preserve">   ·   junio 2026   ·   Lisboa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219452" name="Text 0"/>
          <p:cNvSpPr/>
          <p:nvPr/>
        </p:nvSpPr>
        <p:spPr bwMode="auto"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1200"/>
          </a:p>
        </p:txBody>
      </p:sp>
      <p:sp>
        <p:nvSpPr>
          <p:cNvPr id="879583347" name="Text 1"/>
          <p:cNvSpPr/>
          <p:nvPr/>
        </p:nvSpPr>
        <p:spPr bwMode="auto">
          <a:xfrm>
            <a:off x="566928" y="713232"/>
            <a:ext cx="11055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  <a:defRPr/>
            </a:pPr>
            <a:r>
              <a:rPr lang="en-US" sz="2700" b="1">
                <a:solidFill>
                  <a:srgbClr val="1B2A4A"/>
                </a:solidFill>
                <a:latin typeface="Georgia"/>
                <a:ea typeface="Georgia"/>
                <a:cs typeface="Georgia"/>
              </a:rPr>
              <a:t>El recorrido de hoy</a:t>
            </a:r>
            <a:endParaRPr lang="en-US" sz="2700"/>
          </a:p>
        </p:txBody>
      </p:sp>
      <p:sp>
        <p:nvSpPr>
          <p:cNvPr id="260056615" name="Shape 2"/>
          <p:cNvSpPr/>
          <p:nvPr/>
        </p:nvSpPr>
        <p:spPr bwMode="auto">
          <a:xfrm>
            <a:off x="566928" y="196596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912847580" name="Text 3"/>
          <p:cNvSpPr/>
          <p:nvPr/>
        </p:nvSpPr>
        <p:spPr bwMode="auto">
          <a:xfrm>
            <a:off x="56692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</a:t>
            </a:r>
            <a:endParaRPr lang="en-US" sz="2200"/>
          </a:p>
        </p:txBody>
      </p:sp>
      <p:sp>
        <p:nvSpPr>
          <p:cNvPr id="389809408" name="Text 4"/>
          <p:cNvSpPr/>
          <p:nvPr/>
        </p:nvSpPr>
        <p:spPr bwMode="auto">
          <a:xfrm>
            <a:off x="1344168" y="19202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 xml:space="preserve">El problema   </a:t>
            </a: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de cada 10 reservas se cancelan</a:t>
            </a:r>
            <a:endParaRPr lang="en-US" sz="1700"/>
          </a:p>
        </p:txBody>
      </p:sp>
      <p:sp>
        <p:nvSpPr>
          <p:cNvPr id="1787706428" name="Text 5"/>
          <p:cNvSpPr/>
          <p:nvPr/>
        </p:nvSpPr>
        <p:spPr bwMode="auto">
          <a:xfrm>
            <a:off x="10360152" y="1965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300" b="1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3 min</a:t>
            </a:r>
            <a:endParaRPr lang="en-US" sz="1300"/>
          </a:p>
        </p:txBody>
      </p:sp>
      <p:sp>
        <p:nvSpPr>
          <p:cNvPr id="330876790" name="Shape 6"/>
          <p:cNvSpPr/>
          <p:nvPr/>
        </p:nvSpPr>
        <p:spPr bwMode="auto">
          <a:xfrm>
            <a:off x="566928" y="2807208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69641115" name="Text 7"/>
          <p:cNvSpPr/>
          <p:nvPr/>
        </p:nvSpPr>
        <p:spPr bwMode="auto">
          <a:xfrm>
            <a:off x="566928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</a:t>
            </a:r>
            <a:endParaRPr lang="en-US" sz="2200"/>
          </a:p>
        </p:txBody>
      </p:sp>
      <p:sp>
        <p:nvSpPr>
          <p:cNvPr id="491273388" name="Text 8"/>
          <p:cNvSpPr/>
          <p:nvPr/>
        </p:nvSpPr>
        <p:spPr bwMode="auto">
          <a:xfrm>
            <a:off x="1344168" y="276148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 xml:space="preserve">Qué encontré   </a:t>
            </a: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Quién cancela y cuándo (segmento y antelación)</a:t>
            </a:r>
            <a:endParaRPr lang="en-US" sz="1700"/>
          </a:p>
        </p:txBody>
      </p:sp>
      <p:sp>
        <p:nvSpPr>
          <p:cNvPr id="426416472" name="Text 9"/>
          <p:cNvSpPr/>
          <p:nvPr/>
        </p:nvSpPr>
        <p:spPr bwMode="auto">
          <a:xfrm>
            <a:off x="10360152" y="280720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300" b="1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10 min</a:t>
            </a:r>
            <a:endParaRPr lang="en-US" sz="1300"/>
          </a:p>
        </p:txBody>
      </p:sp>
      <p:sp>
        <p:nvSpPr>
          <p:cNvPr id="1103044463" name="Shape 10"/>
          <p:cNvSpPr/>
          <p:nvPr/>
        </p:nvSpPr>
        <p:spPr bwMode="auto">
          <a:xfrm>
            <a:off x="566928" y="3648456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31504503" name="Text 11"/>
          <p:cNvSpPr/>
          <p:nvPr/>
        </p:nvSpPr>
        <p:spPr bwMode="auto">
          <a:xfrm>
            <a:off x="566928" y="3648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</a:t>
            </a:r>
            <a:endParaRPr lang="en-US" sz="2200"/>
          </a:p>
        </p:txBody>
      </p:sp>
      <p:sp>
        <p:nvSpPr>
          <p:cNvPr id="2072491253" name="Text 12"/>
          <p:cNvSpPr/>
          <p:nvPr/>
        </p:nvSpPr>
        <p:spPr bwMode="auto">
          <a:xfrm>
            <a:off x="1344168" y="3602735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 xml:space="preserve">El giro y lo que revela   </a:t>
            </a: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El dato que engañaba: asociación ≠ causa</a:t>
            </a:r>
            <a:endParaRPr lang="en-US" sz="1700"/>
          </a:p>
        </p:txBody>
      </p:sp>
      <p:sp>
        <p:nvSpPr>
          <p:cNvPr id="463735822" name="Text 13"/>
          <p:cNvSpPr/>
          <p:nvPr/>
        </p:nvSpPr>
        <p:spPr bwMode="auto">
          <a:xfrm>
            <a:off x="10360152" y="364845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300" b="1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7 min</a:t>
            </a:r>
            <a:endParaRPr lang="en-US" sz="1300"/>
          </a:p>
        </p:txBody>
      </p:sp>
      <p:sp>
        <p:nvSpPr>
          <p:cNvPr id="2100388740" name="Shape 14"/>
          <p:cNvSpPr/>
          <p:nvPr/>
        </p:nvSpPr>
        <p:spPr bwMode="auto">
          <a:xfrm>
            <a:off x="566928" y="4489704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014790579" name="Text 15"/>
          <p:cNvSpPr/>
          <p:nvPr/>
        </p:nvSpPr>
        <p:spPr bwMode="auto">
          <a:xfrm>
            <a:off x="566928" y="44897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</a:t>
            </a:r>
            <a:endParaRPr lang="en-US" sz="2200"/>
          </a:p>
        </p:txBody>
      </p:sp>
      <p:sp>
        <p:nvSpPr>
          <p:cNvPr id="222288301" name="Text 16"/>
          <p:cNvSpPr/>
          <p:nvPr/>
        </p:nvSpPr>
        <p:spPr bwMode="auto">
          <a:xfrm>
            <a:off x="1344168" y="4443984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 xml:space="preserve">Recomendaciones   </a:t>
            </a: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Tres palancas sobre el grupo de riesgo</a:t>
            </a:r>
            <a:endParaRPr lang="en-US" sz="1700"/>
          </a:p>
        </p:txBody>
      </p:sp>
      <p:sp>
        <p:nvSpPr>
          <p:cNvPr id="662350506" name="Text 17"/>
          <p:cNvSpPr/>
          <p:nvPr/>
        </p:nvSpPr>
        <p:spPr bwMode="auto">
          <a:xfrm>
            <a:off x="10360152" y="448970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300" b="1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6 min</a:t>
            </a:r>
            <a:endParaRPr lang="en-US" sz="1300"/>
          </a:p>
        </p:txBody>
      </p:sp>
      <p:sp>
        <p:nvSpPr>
          <p:cNvPr id="1971311073" name="Shape 18"/>
          <p:cNvSpPr/>
          <p:nvPr/>
        </p:nvSpPr>
        <p:spPr bwMode="auto">
          <a:xfrm>
            <a:off x="566928" y="5330952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741114611" name="Text 19"/>
          <p:cNvSpPr/>
          <p:nvPr/>
        </p:nvSpPr>
        <p:spPr bwMode="auto">
          <a:xfrm>
            <a:off x="566928" y="5330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5</a:t>
            </a:r>
            <a:endParaRPr lang="en-US" sz="2200"/>
          </a:p>
        </p:txBody>
      </p:sp>
      <p:sp>
        <p:nvSpPr>
          <p:cNvPr id="238965394" name="Text 20"/>
          <p:cNvSpPr/>
          <p:nvPr/>
        </p:nvSpPr>
        <p:spPr bwMode="auto">
          <a:xfrm>
            <a:off x="1344168" y="5285232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 xml:space="preserve">Próximos pasos + Q&amp;A   </a:t>
            </a: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Qué medir a continuación</a:t>
            </a:r>
            <a:endParaRPr lang="en-US" sz="1700"/>
          </a:p>
        </p:txBody>
      </p:sp>
      <p:sp>
        <p:nvSpPr>
          <p:cNvPr id="1834377572" name="Text 21"/>
          <p:cNvSpPr/>
          <p:nvPr/>
        </p:nvSpPr>
        <p:spPr bwMode="auto">
          <a:xfrm>
            <a:off x="10360152" y="53309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300" b="1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4 min</a:t>
            </a:r>
            <a:endParaRPr lang="en-US" sz="1300"/>
          </a:p>
        </p:txBody>
      </p:sp>
      <p:sp>
        <p:nvSpPr>
          <p:cNvPr id="1590237815" name="Text 22"/>
          <p:cNvSpPr/>
          <p:nvPr/>
        </p:nvSpPr>
        <p:spPr bwMode="auto"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City Hotel · 53.050 reservas · 30,07% cancelación</a:t>
            </a:r>
            <a:endParaRPr lang="en-US" sz="950"/>
          </a:p>
        </p:txBody>
      </p:sp>
      <p:sp>
        <p:nvSpPr>
          <p:cNvPr id="254605583" name="Text 23"/>
          <p:cNvSpPr/>
          <p:nvPr/>
        </p:nvSpPr>
        <p:spPr bwMode="auto"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0409547" name="Text 0"/>
          <p:cNvSpPr/>
          <p:nvPr/>
        </p:nvSpPr>
        <p:spPr bwMode="auto"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EL PROBLEMA</a:t>
            </a:r>
            <a:endParaRPr lang="en-US" sz="1200"/>
          </a:p>
        </p:txBody>
      </p:sp>
      <p:sp>
        <p:nvSpPr>
          <p:cNvPr id="1532122760" name="Text 1"/>
          <p:cNvSpPr/>
          <p:nvPr/>
        </p:nvSpPr>
        <p:spPr bwMode="auto">
          <a:xfrm>
            <a:off x="566928" y="713232"/>
            <a:ext cx="11055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  <a:defRPr/>
            </a:pPr>
            <a:r>
              <a:rPr lang="en-US" sz="2700" b="1">
                <a:solidFill>
                  <a:srgbClr val="1B2A4A"/>
                </a:solidFill>
                <a:latin typeface="Georgia"/>
                <a:ea typeface="Georgia"/>
                <a:cs typeface="Georgia"/>
              </a:rPr>
              <a:t>3 de cada 10 reservas se cancelan</a:t>
            </a:r>
            <a:endParaRPr lang="en-US" sz="2700"/>
          </a:p>
        </p:txBody>
      </p:sp>
      <p:sp>
        <p:nvSpPr>
          <p:cNvPr id="1950109461" name="Shape 2"/>
          <p:cNvSpPr/>
          <p:nvPr/>
        </p:nvSpPr>
        <p:spPr bwMode="auto">
          <a:xfrm>
            <a:off x="566928" y="2057400"/>
            <a:ext cx="4754880" cy="3291840"/>
          </a:xfrm>
          <a:prstGeom prst="rect">
            <a:avLst/>
          </a:prstGeom>
          <a:solidFill>
            <a:srgbClr val="16243A"/>
          </a:solidFill>
          <a:ln/>
        </p:spPr>
      </p:sp>
      <p:sp>
        <p:nvSpPr>
          <p:cNvPr id="1500374645" name="Text 3"/>
          <p:cNvSpPr/>
          <p:nvPr/>
        </p:nvSpPr>
        <p:spPr bwMode="auto">
          <a:xfrm>
            <a:off x="566928" y="24688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30,07%</a:t>
            </a:r>
            <a:endParaRPr lang="en-US" sz="8000"/>
          </a:p>
        </p:txBody>
      </p:sp>
      <p:sp>
        <p:nvSpPr>
          <p:cNvPr id="904236520" name="Text 4"/>
          <p:cNvSpPr/>
          <p:nvPr/>
        </p:nvSpPr>
        <p:spPr bwMode="auto">
          <a:xfrm>
            <a:off x="841248" y="40690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de 53.050 reservas terminaron canceladas</a:t>
            </a:r>
            <a:endParaRPr lang="en-US" sz="1500"/>
          </a:p>
          <a:p>
            <a:pPr marL="0" indent="0" algn="ctr">
              <a:buNone/>
              <a:defRPr/>
            </a:pPr>
            <a:r>
              <a:rPr lang="en-US"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(City Hotel, 2015–2017)</a:t>
            </a:r>
            <a:endParaRPr lang="en-US" sz="1500"/>
          </a:p>
        </p:txBody>
      </p:sp>
      <p:sp>
        <p:nvSpPr>
          <p:cNvPr id="1996212153" name="Text 5"/>
          <p:cNvSpPr/>
          <p:nvPr/>
        </p:nvSpPr>
        <p:spPr bwMode="auto">
          <a:xfrm>
            <a:off x="5760720" y="2286000"/>
            <a:ext cx="5852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Cada cancelación = una habitación que se revende tarde o queda vacía.</a:t>
            </a:r>
            <a:endParaRPr lang="en-US" sz="160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Impacto directo en ingresos, overbooking y planificación de ocupación.</a:t>
            </a:r>
            <a:endParaRPr lang="en-US" sz="160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 pregunta que guía el análisis: ¿se puede anticipar qué reservas se caen?</a:t>
            </a:r>
            <a:endParaRPr lang="en-US" sz="1600"/>
          </a:p>
        </p:txBody>
      </p:sp>
      <p:sp>
        <p:nvSpPr>
          <p:cNvPr id="928213524" name="Text 6"/>
          <p:cNvSpPr/>
          <p:nvPr/>
        </p:nvSpPr>
        <p:spPr bwMode="auto"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City Hotel · 53.050 reservas · 30,07% cancelación</a:t>
            </a:r>
            <a:endParaRPr lang="en-US" sz="950"/>
          </a:p>
        </p:txBody>
      </p:sp>
      <p:sp>
        <p:nvSpPr>
          <p:cNvPr id="1939497797" name="Text 7"/>
          <p:cNvSpPr/>
          <p:nvPr/>
        </p:nvSpPr>
        <p:spPr bwMode="auto"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234166" name="Text 0"/>
          <p:cNvSpPr/>
          <p:nvPr/>
        </p:nvSpPr>
        <p:spPr bwMode="auto"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CÓMO LO ANALICÉ</a:t>
            </a:r>
            <a:endParaRPr lang="en-US" sz="1200"/>
          </a:p>
        </p:txBody>
      </p:sp>
      <p:sp>
        <p:nvSpPr>
          <p:cNvPr id="808237373" name="Text 1"/>
          <p:cNvSpPr/>
          <p:nvPr/>
        </p:nvSpPr>
        <p:spPr bwMode="auto">
          <a:xfrm>
            <a:off x="566928" y="713232"/>
            <a:ext cx="11055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  <a:defRPr/>
            </a:pPr>
            <a:r>
              <a:rPr lang="en-US" sz="2700" b="1">
                <a:solidFill>
                  <a:srgbClr val="1B2A4A"/>
                </a:solidFill>
                <a:latin typeface="Georgia"/>
                <a:ea typeface="Georgia"/>
                <a:cs typeface="Georgia"/>
              </a:rPr>
              <a:t>53.050 reservas · 6 preguntas · SQL sobre DuckDB</a:t>
            </a:r>
            <a:endParaRPr lang="en-US" sz="2700"/>
          </a:p>
        </p:txBody>
      </p:sp>
      <p:sp>
        <p:nvSpPr>
          <p:cNvPr id="1467707848" name="Shape 2"/>
          <p:cNvSpPr/>
          <p:nvPr/>
        </p:nvSpPr>
        <p:spPr bwMode="auto">
          <a:xfrm>
            <a:off x="566928" y="2286000"/>
            <a:ext cx="2489454" cy="2834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807071076" name="Shape 3"/>
          <p:cNvSpPr/>
          <p:nvPr/>
        </p:nvSpPr>
        <p:spPr bwMode="auto">
          <a:xfrm>
            <a:off x="566928" y="2286000"/>
            <a:ext cx="2489454" cy="1097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95002965" name="Text 4"/>
          <p:cNvSpPr/>
          <p:nvPr/>
        </p:nvSpPr>
        <p:spPr bwMode="auto">
          <a:xfrm>
            <a:off x="795528" y="2651760"/>
            <a:ext cx="2032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B2A4A"/>
                </a:solidFill>
                <a:latin typeface="Georgia"/>
                <a:ea typeface="Georgia"/>
                <a:cs typeface="Georgia"/>
              </a:rPr>
              <a:t>Datos</a:t>
            </a:r>
            <a:endParaRPr lang="en-US" sz="1800"/>
          </a:p>
        </p:txBody>
      </p:sp>
      <p:sp>
        <p:nvSpPr>
          <p:cNvPr id="1250233136" name="Text 5"/>
          <p:cNvSpPr/>
          <p:nvPr/>
        </p:nvSpPr>
        <p:spPr bwMode="auto">
          <a:xfrm>
            <a:off x="795528" y="3291840"/>
            <a:ext cx="203225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Un solo hotel de Lisboa; CSV limpio y documentado en el notebook.</a:t>
            </a:r>
            <a:endParaRPr lang="en-US" sz="1300"/>
          </a:p>
        </p:txBody>
      </p:sp>
      <p:sp>
        <p:nvSpPr>
          <p:cNvPr id="493083651" name="Shape 6"/>
          <p:cNvSpPr/>
          <p:nvPr/>
        </p:nvSpPr>
        <p:spPr bwMode="auto">
          <a:xfrm>
            <a:off x="3422142" y="2286000"/>
            <a:ext cx="2489454" cy="2834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968369177" name="Shape 7"/>
          <p:cNvSpPr/>
          <p:nvPr/>
        </p:nvSpPr>
        <p:spPr bwMode="auto">
          <a:xfrm>
            <a:off x="3422142" y="2286000"/>
            <a:ext cx="2489454" cy="1097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68243433" name="Text 8"/>
          <p:cNvSpPr/>
          <p:nvPr/>
        </p:nvSpPr>
        <p:spPr bwMode="auto">
          <a:xfrm>
            <a:off x="3650742" y="2651760"/>
            <a:ext cx="2032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B2A4A"/>
                </a:solidFill>
                <a:latin typeface="Georgia"/>
                <a:ea typeface="Georgia"/>
                <a:cs typeface="Georgia"/>
              </a:rPr>
              <a:t>SQL reproducible</a:t>
            </a:r>
            <a:endParaRPr lang="en-US" sz="1800"/>
          </a:p>
        </p:txBody>
      </p:sp>
      <p:sp>
        <p:nvSpPr>
          <p:cNvPr id="1753758512" name="Text 9"/>
          <p:cNvSpPr/>
          <p:nvPr/>
        </p:nvSpPr>
        <p:spPr bwMode="auto">
          <a:xfrm>
            <a:off x="3650742" y="3291840"/>
            <a:ext cx="203225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Consultas en DuckDB, auditadas 2× (pandas vs SQL).</a:t>
            </a:r>
            <a:endParaRPr lang="en-US" sz="1300"/>
          </a:p>
        </p:txBody>
      </p:sp>
      <p:sp>
        <p:nvSpPr>
          <p:cNvPr id="2009955798" name="Shape 10"/>
          <p:cNvSpPr/>
          <p:nvPr/>
        </p:nvSpPr>
        <p:spPr bwMode="auto">
          <a:xfrm>
            <a:off x="6277356" y="2286000"/>
            <a:ext cx="2489454" cy="2834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811420547" name="Shape 11"/>
          <p:cNvSpPr/>
          <p:nvPr/>
        </p:nvSpPr>
        <p:spPr bwMode="auto">
          <a:xfrm>
            <a:off x="6277356" y="2286000"/>
            <a:ext cx="2489454" cy="1097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55021024" name="Text 12"/>
          <p:cNvSpPr/>
          <p:nvPr/>
        </p:nvSpPr>
        <p:spPr bwMode="auto">
          <a:xfrm>
            <a:off x="6505956" y="2651760"/>
            <a:ext cx="2032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B2A4A"/>
                </a:solidFill>
                <a:latin typeface="Georgia"/>
                <a:ea typeface="Georgia"/>
                <a:cs typeface="Georgia"/>
              </a:rPr>
              <a:t>6 ejes</a:t>
            </a:r>
            <a:endParaRPr lang="en-US" sz="1800"/>
          </a:p>
        </p:txBody>
      </p:sp>
      <p:sp>
        <p:nvSpPr>
          <p:cNvPr id="695649730" name="Text 13"/>
          <p:cNvSpPr/>
          <p:nvPr/>
        </p:nvSpPr>
        <p:spPr bwMode="auto">
          <a:xfrm>
            <a:off x="6505956" y="3291840"/>
            <a:ext cx="203225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Segmento, antelación, depósito, precio (ADR), peticiones y cliente.</a:t>
            </a:r>
            <a:endParaRPr lang="en-US" sz="1300"/>
          </a:p>
        </p:txBody>
      </p:sp>
      <p:sp>
        <p:nvSpPr>
          <p:cNvPr id="1839732524" name="Shape 14"/>
          <p:cNvSpPr/>
          <p:nvPr/>
        </p:nvSpPr>
        <p:spPr bwMode="auto">
          <a:xfrm>
            <a:off x="9132570" y="2286000"/>
            <a:ext cx="2489454" cy="2834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464196728" name="Shape 15"/>
          <p:cNvSpPr/>
          <p:nvPr/>
        </p:nvSpPr>
        <p:spPr bwMode="auto">
          <a:xfrm>
            <a:off x="9132570" y="2286000"/>
            <a:ext cx="2489454" cy="1097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084724567" name="Text 16"/>
          <p:cNvSpPr/>
          <p:nvPr/>
        </p:nvSpPr>
        <p:spPr bwMode="auto">
          <a:xfrm>
            <a:off x="9361170" y="2651760"/>
            <a:ext cx="2032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B2A4A"/>
                </a:solidFill>
                <a:latin typeface="Georgia"/>
                <a:ea typeface="Georgia"/>
                <a:cs typeface="Georgia"/>
              </a:rPr>
              <a:t>Trazable</a:t>
            </a:r>
            <a:endParaRPr lang="en-US" sz="1800"/>
          </a:p>
        </p:txBody>
      </p:sp>
      <p:sp>
        <p:nvSpPr>
          <p:cNvPr id="1346712385" name="Text 17"/>
          <p:cNvSpPr/>
          <p:nvPr/>
        </p:nvSpPr>
        <p:spPr bwMode="auto">
          <a:xfrm>
            <a:off x="9361170" y="3291840"/>
            <a:ext cx="203225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Cada cifra de la presentación tiene su query en el repo.</a:t>
            </a:r>
            <a:endParaRPr lang="en-US" sz="1300"/>
          </a:p>
        </p:txBody>
      </p:sp>
      <p:sp>
        <p:nvSpPr>
          <p:cNvPr id="809215671" name="Text 18"/>
          <p:cNvSpPr/>
          <p:nvPr/>
        </p:nvSpPr>
        <p:spPr bwMode="auto"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City Hotel · 53.050 reservas · 30,07% cancelación</a:t>
            </a:r>
            <a:endParaRPr lang="en-US" sz="950"/>
          </a:p>
        </p:txBody>
      </p:sp>
      <p:sp>
        <p:nvSpPr>
          <p:cNvPr id="783490643" name="Text 19"/>
          <p:cNvSpPr/>
          <p:nvPr/>
        </p:nvSpPr>
        <p:spPr bwMode="auto"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739713" name="Text 0"/>
          <p:cNvSpPr/>
          <p:nvPr/>
        </p:nvSpPr>
        <p:spPr bwMode="auto"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PISTA 1 · CANAL DE VENTA</a:t>
            </a:r>
            <a:endParaRPr lang="en-US" sz="1200"/>
          </a:p>
        </p:txBody>
      </p:sp>
      <p:sp>
        <p:nvSpPr>
          <p:cNvPr id="1721484717" name="Text 1"/>
          <p:cNvSpPr/>
          <p:nvPr/>
        </p:nvSpPr>
        <p:spPr bwMode="auto">
          <a:xfrm>
            <a:off x="566928" y="713232"/>
            <a:ext cx="11055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  <a:defRPr/>
            </a:pPr>
            <a:r>
              <a:rPr lang="en-US" sz="2700" b="1">
                <a:solidFill>
                  <a:srgbClr val="1B2A4A"/>
                </a:solidFill>
                <a:latin typeface="Georgia"/>
                <a:ea typeface="Georgia"/>
                <a:cs typeface="Georgia"/>
              </a:rPr>
              <a:t>Online TA es el canal que más cancela: 36%</a:t>
            </a:r>
            <a:endParaRPr lang="en-US" sz="2700"/>
          </a:p>
        </p:txBody>
      </p:sp>
      <p:sp>
        <p:nvSpPr>
          <p:cNvPr id="176440673" name="Text 2"/>
          <p:cNvSpPr/>
          <p:nvPr/>
        </p:nvSpPr>
        <p:spPr bwMode="auto">
          <a:xfrm>
            <a:off x="566928" y="219456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El canal de mayor tasa entre los segmentos grandes.</a:t>
            </a:r>
            <a:endParaRPr lang="en-US" sz="150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Y el de mayor volumen (65% de las reservas): aporta el 79% de todas las cancelaciones.</a:t>
            </a:r>
            <a:endParaRPr lang="en-US" sz="150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Ojo base rate: Groups (33,9%) y Aviation (19,9%) tienen muy pocos casos.</a:t>
            </a:r>
            <a:endParaRPr lang="en-US" sz="1500"/>
          </a:p>
        </p:txBody>
      </p:sp>
      <p:pic>
        <p:nvPicPr>
          <p:cNvPr id="1264055121" name="Image 0" descr="charts/segmento.png"/>
          <p:cNvPicPr>
            <a:picLocks noChangeAspect="1"/>
          </p:cNvPicPr>
          <p:nvPr/>
        </p:nvPicPr>
        <p:blipFill rotWithShape="1">
          <a:blip r:embed="rId3"/>
          <a:srcRect l="0" t="0" r="0" b="0"/>
          <a:stretch/>
        </p:blipFill>
        <p:spPr bwMode="auto">
          <a:xfrm>
            <a:off x="5760720" y="2194560"/>
            <a:ext cx="5852160" cy="3200400"/>
          </a:xfrm>
          <a:prstGeom prst="rect">
            <a:avLst/>
          </a:prstGeom>
        </p:spPr>
      </p:pic>
      <p:sp>
        <p:nvSpPr>
          <p:cNvPr id="2071661044" name="Text 3"/>
          <p:cNvSpPr/>
          <p:nvPr/>
        </p:nvSpPr>
        <p:spPr bwMode="auto"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City Hotel · 53.050 reservas · 30,07% cancelación</a:t>
            </a:r>
            <a:endParaRPr lang="en-US" sz="950"/>
          </a:p>
        </p:txBody>
      </p:sp>
      <p:sp>
        <p:nvSpPr>
          <p:cNvPr id="165006880" name="Text 4"/>
          <p:cNvSpPr/>
          <p:nvPr/>
        </p:nvSpPr>
        <p:spPr bwMode="auto"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459087" name="Text 0"/>
          <p:cNvSpPr/>
          <p:nvPr/>
        </p:nvSpPr>
        <p:spPr bwMode="auto"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PISTA 2 · ANTELACIÓN</a:t>
            </a:r>
            <a:endParaRPr lang="en-US" sz="1200"/>
          </a:p>
        </p:txBody>
      </p:sp>
      <p:sp>
        <p:nvSpPr>
          <p:cNvPr id="1046209221" name="Text 1"/>
          <p:cNvSpPr/>
          <p:nvPr/>
        </p:nvSpPr>
        <p:spPr bwMode="auto">
          <a:xfrm>
            <a:off x="566928" y="713232"/>
            <a:ext cx="11055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  <a:defRPr/>
            </a:pPr>
            <a:r>
              <a:rPr lang="en-US" sz="2700" b="1">
                <a:solidFill>
                  <a:srgbClr val="1B2A4A"/>
                </a:solidFill>
                <a:latin typeface="Georgia"/>
                <a:ea typeface="Georgia"/>
                <a:cs typeface="Georgia"/>
              </a:rPr>
              <a:t>Cuanto antes se reserva, más se cancela: del 11% al 45%</a:t>
            </a:r>
            <a:endParaRPr lang="en-US" sz="2700"/>
          </a:p>
        </p:txBody>
      </p:sp>
      <p:sp>
        <p:nvSpPr>
          <p:cNvPr id="2033337729" name="Text 2"/>
          <p:cNvSpPr/>
          <p:nvPr/>
        </p:nvSpPr>
        <p:spPr bwMode="auto">
          <a:xfrm>
            <a:off x="566928" y="219456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Relación monotónica: a más antelación, más cancelación.</a:t>
            </a:r>
            <a:endParaRPr lang="en-US" sz="150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El salto fuerte aparece a partir de los 90 días.</a:t>
            </a:r>
            <a:endParaRPr lang="en-US" sz="150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Umbral de corte que usaré después: lead time &gt; 90 días.</a:t>
            </a:r>
            <a:endParaRPr lang="en-US" sz="1500"/>
          </a:p>
        </p:txBody>
      </p:sp>
      <p:pic>
        <p:nvPicPr>
          <p:cNvPr id="1110265368" name="Image 0" descr="charts/lead.png"/>
          <p:cNvPicPr>
            <a:picLocks noChangeAspect="1"/>
          </p:cNvPicPr>
          <p:nvPr/>
        </p:nvPicPr>
        <p:blipFill rotWithShape="1">
          <a:blip r:embed="rId3"/>
          <a:srcRect l="0" t="0" r="0" b="0"/>
          <a:stretch/>
        </p:blipFill>
        <p:spPr bwMode="auto">
          <a:xfrm>
            <a:off x="5760720" y="2194560"/>
            <a:ext cx="5852160" cy="3200400"/>
          </a:xfrm>
          <a:prstGeom prst="rect">
            <a:avLst/>
          </a:prstGeom>
        </p:spPr>
      </p:pic>
      <p:sp>
        <p:nvSpPr>
          <p:cNvPr id="8889649" name="Text 3"/>
          <p:cNvSpPr/>
          <p:nvPr/>
        </p:nvSpPr>
        <p:spPr bwMode="auto"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City Hotel · 53.050 reservas · 30,07% cancelación</a:t>
            </a:r>
            <a:endParaRPr lang="en-US" sz="950"/>
          </a:p>
        </p:txBody>
      </p:sp>
      <p:sp>
        <p:nvSpPr>
          <p:cNvPr id="1317025271" name="Text 4"/>
          <p:cNvSpPr/>
          <p:nvPr/>
        </p:nvSpPr>
        <p:spPr bwMode="auto"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247620" name="Text 0"/>
          <p:cNvSpPr/>
          <p:nvPr/>
        </p:nvSpPr>
        <p:spPr bwMode="auto"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E2711D"/>
                </a:solidFill>
                <a:latin typeface="Calibri"/>
                <a:ea typeface="Calibri"/>
                <a:cs typeface="Calibri"/>
              </a:rPr>
              <a:t>EL GIRO</a:t>
            </a:r>
            <a:endParaRPr lang="en-US" sz="1200"/>
          </a:p>
        </p:txBody>
      </p:sp>
      <p:sp>
        <p:nvSpPr>
          <p:cNvPr id="1728990886" name="Text 1"/>
          <p:cNvSpPr/>
          <p:nvPr/>
        </p:nvSpPr>
        <p:spPr bwMode="auto">
          <a:xfrm>
            <a:off x="566928" y="713232"/>
            <a:ext cx="11055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  <a:defRPr/>
            </a:pPr>
            <a:r>
              <a:rPr lang="en-US" sz="2700" b="1">
                <a:solidFill>
                  <a:srgbClr val="1B2A4A"/>
                </a:solidFill>
                <a:latin typeface="Georgia"/>
                <a:ea typeface="Georgia"/>
                <a:cs typeface="Georgia"/>
              </a:rPr>
              <a:t>El dato que parecía la respuesta: Non Refund cancela el 97%</a:t>
            </a:r>
            <a:endParaRPr lang="en-US" sz="2700"/>
          </a:p>
        </p:txBody>
      </p:sp>
      <p:sp>
        <p:nvSpPr>
          <p:cNvPr id="1270101037" name="Text 2"/>
          <p:cNvSpPr/>
          <p:nvPr/>
        </p:nvSpPr>
        <p:spPr bwMode="auto">
          <a:xfrm>
            <a:off x="566928" y="219456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Por tipo de depósito, Non Refund cancela el 97,16% vs 29% sin depósito.</a:t>
            </a:r>
            <a:endParaRPr lang="en-US" sz="150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Instinto inicial: «exigir depósito no reembolsable dispara las cancelaciones».</a:t>
            </a:r>
            <a:endParaRPr lang="en-US" sz="1500"/>
          </a:p>
        </p:txBody>
      </p:sp>
      <p:sp>
        <p:nvSpPr>
          <p:cNvPr id="1407859502" name="Shape 3"/>
          <p:cNvSpPr/>
          <p:nvPr/>
        </p:nvSpPr>
        <p:spPr bwMode="auto">
          <a:xfrm>
            <a:off x="566928" y="4617720"/>
            <a:ext cx="4937760" cy="777240"/>
          </a:xfrm>
          <a:prstGeom prst="rect">
            <a:avLst/>
          </a:prstGeom>
          <a:solidFill>
            <a:srgbClr val="FBE9D7"/>
          </a:solidFill>
          <a:ln/>
        </p:spPr>
      </p:sp>
      <p:sp>
        <p:nvSpPr>
          <p:cNvPr id="1518452372" name="Text 4"/>
          <p:cNvSpPr/>
          <p:nvPr/>
        </p:nvSpPr>
        <p:spPr bwMode="auto">
          <a:xfrm>
            <a:off x="749808" y="4617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i="1">
                <a:solidFill>
                  <a:srgbClr val="E2711D"/>
                </a:solidFill>
                <a:latin typeface="Calibri"/>
                <a:ea typeface="Calibri"/>
                <a:cs typeface="Calibri"/>
              </a:rPr>
              <a:t>¿Solución: poner depósitos? Antes de recomendarlo, miré quién hace esas reservas…</a:t>
            </a:r>
            <a:endParaRPr lang="en-US" sz="1300"/>
          </a:p>
        </p:txBody>
      </p:sp>
      <p:pic>
        <p:nvPicPr>
          <p:cNvPr id="1600243461" name="Image 0" descr="charts/deposito.png"/>
          <p:cNvPicPr>
            <a:picLocks noChangeAspect="1"/>
          </p:cNvPicPr>
          <p:nvPr/>
        </p:nvPicPr>
        <p:blipFill rotWithShape="1">
          <a:blip r:embed="rId3"/>
          <a:srcRect l="0" t="0" r="0" b="0"/>
          <a:stretch/>
        </p:blipFill>
        <p:spPr bwMode="auto">
          <a:xfrm>
            <a:off x="5760720" y="2194560"/>
            <a:ext cx="5852160" cy="3200400"/>
          </a:xfrm>
          <a:prstGeom prst="rect">
            <a:avLst/>
          </a:prstGeom>
        </p:spPr>
      </p:pic>
      <p:sp>
        <p:nvSpPr>
          <p:cNvPr id="1716064564" name="Text 5"/>
          <p:cNvSpPr/>
          <p:nvPr/>
        </p:nvSpPr>
        <p:spPr bwMode="auto"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City Hotel · 53.050 reservas · 30,07% cancelación</a:t>
            </a:r>
            <a:endParaRPr lang="en-US" sz="950"/>
          </a:p>
        </p:txBody>
      </p:sp>
      <p:sp>
        <p:nvSpPr>
          <p:cNvPr id="912817866" name="Text 6"/>
          <p:cNvSpPr/>
          <p:nvPr/>
        </p:nvSpPr>
        <p:spPr bwMode="auto"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7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1624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150045" name="Text 0"/>
          <p:cNvSpPr/>
          <p:nvPr/>
        </p:nvSpPr>
        <p:spPr bwMode="auto"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LA REVELACIÓN</a:t>
            </a:r>
            <a:endParaRPr lang="en-US" sz="1200"/>
          </a:p>
        </p:txBody>
      </p:sp>
      <p:sp>
        <p:nvSpPr>
          <p:cNvPr id="665496906" name="Text 1"/>
          <p:cNvSpPr/>
          <p:nvPr/>
        </p:nvSpPr>
        <p:spPr bwMode="auto">
          <a:xfrm>
            <a:off x="566928" y="713232"/>
            <a:ext cx="11055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 es el depósito: son reservas hechas con ~6 meses de antelación</a:t>
            </a:r>
            <a:endParaRPr lang="en-US" sz="2700"/>
          </a:p>
        </p:txBody>
      </p:sp>
      <p:sp>
        <p:nvSpPr>
          <p:cNvPr id="398429833" name="Text 2"/>
          <p:cNvSpPr/>
          <p:nvPr/>
        </p:nvSpPr>
        <p:spPr bwMode="auto">
          <a:xfrm>
            <a:off x="566928" y="224028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Lead time mediana: 198,5 días en Non Refund vs 49 en el resto.</a:t>
            </a:r>
            <a:endParaRPr lang="en-US" sz="150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Son 91% Groups + Offline TA/TO: un grupo auto-seleccionado de larga antelación.</a:t>
            </a:r>
            <a:endParaRPr lang="en-US" sz="150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El depósito no causa la cancelación; acompaña a reservas que ya cancelan más.</a:t>
            </a:r>
            <a:endParaRPr lang="en-US" sz="1500"/>
          </a:p>
        </p:txBody>
      </p:sp>
      <p:sp>
        <p:nvSpPr>
          <p:cNvPr id="1751294116" name="Shape 3"/>
          <p:cNvSpPr/>
          <p:nvPr/>
        </p:nvSpPr>
        <p:spPr bwMode="auto">
          <a:xfrm>
            <a:off x="566928" y="4709160"/>
            <a:ext cx="4937760" cy="7315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509067013" name="Text 4"/>
          <p:cNvSpPr/>
          <p:nvPr/>
        </p:nvSpPr>
        <p:spPr bwMode="auto">
          <a:xfrm>
            <a:off x="566928" y="47091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Asociación ≠ causalidad</a:t>
            </a:r>
            <a:endParaRPr lang="en-US" sz="2000"/>
          </a:p>
        </p:txBody>
      </p:sp>
      <p:pic>
        <p:nvPicPr>
          <p:cNvPr id="799065728" name="Image 0" descr="charts/antelacion.png"/>
          <p:cNvPicPr>
            <a:picLocks noChangeAspect="1"/>
          </p:cNvPicPr>
          <p:nvPr/>
        </p:nvPicPr>
        <p:blipFill rotWithShape="1">
          <a:blip r:embed="rId3"/>
          <a:srcRect l="0" t="0" r="0" b="0"/>
          <a:stretch/>
        </p:blipFill>
        <p:spPr bwMode="auto">
          <a:xfrm>
            <a:off x="5760720" y="2194560"/>
            <a:ext cx="5852160" cy="3200400"/>
          </a:xfrm>
          <a:prstGeom prst="rect">
            <a:avLst/>
          </a:prstGeom>
        </p:spPr>
      </p:pic>
      <p:sp>
        <p:nvSpPr>
          <p:cNvPr id="787245972" name="Text 5"/>
          <p:cNvSpPr/>
          <p:nvPr/>
        </p:nvSpPr>
        <p:spPr bwMode="auto"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City Hotel · 53.050 reservas · 30,07% cancelación</a:t>
            </a:r>
            <a:endParaRPr lang="en-US" sz="950"/>
          </a:p>
        </p:txBody>
      </p:sp>
      <p:sp>
        <p:nvSpPr>
          <p:cNvPr id="1877755014" name="Text 6"/>
          <p:cNvSpPr/>
          <p:nvPr/>
        </p:nvSpPr>
        <p:spPr bwMode="auto"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1219974" name="Text 0"/>
          <p:cNvSpPr/>
          <p:nvPr/>
        </p:nvSpPr>
        <p:spPr bwMode="auto"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SEÑAL · PETICIONES ESPECIALES</a:t>
            </a:r>
            <a:endParaRPr lang="en-US" sz="1200"/>
          </a:p>
        </p:txBody>
      </p:sp>
      <p:sp>
        <p:nvSpPr>
          <p:cNvPr id="1542674310" name="Text 1"/>
          <p:cNvSpPr/>
          <p:nvPr/>
        </p:nvSpPr>
        <p:spPr bwMode="auto">
          <a:xfrm>
            <a:off x="566928" y="713232"/>
            <a:ext cx="11055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  <a:defRPr/>
            </a:pPr>
            <a:r>
              <a:rPr lang="en-US" sz="2700" b="1">
                <a:solidFill>
                  <a:srgbClr val="1B2A4A"/>
                </a:solidFill>
                <a:latin typeface="Georgia"/>
                <a:ea typeface="Georgia"/>
                <a:cs typeface="Georgia"/>
              </a:rPr>
              <a:t>Sin peticiones especiales se cancela casi el doble (38% vs 22%)</a:t>
            </a:r>
            <a:endParaRPr lang="en-US" sz="2700"/>
          </a:p>
        </p:txBody>
      </p:sp>
      <p:sp>
        <p:nvSpPr>
          <p:cNvPr id="950628853" name="Text 2"/>
          <p:cNvSpPr/>
          <p:nvPr/>
        </p:nvSpPr>
        <p:spPr bwMode="auto">
          <a:xfrm>
            <a:off x="566928" y="219456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0 peticiones → 38,36% vs 1+ → 21,99% (1,74×).</a:t>
            </a:r>
            <a:endParaRPr lang="en-US" sz="150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Ese grupo es el 49% del volumen y el 63% de las cancelaciones.</a:t>
            </a:r>
            <a:endParaRPr lang="en-US" sz="150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Una petición especial = señal de intención real de venir.</a:t>
            </a:r>
            <a:endParaRPr lang="en-US" sz="1500"/>
          </a:p>
        </p:txBody>
      </p:sp>
      <p:pic>
        <p:nvPicPr>
          <p:cNvPr id="1020799546" name="Image 0" descr="charts/peticiones.png"/>
          <p:cNvPicPr>
            <a:picLocks noChangeAspect="1"/>
          </p:cNvPicPr>
          <p:nvPr/>
        </p:nvPicPr>
        <p:blipFill rotWithShape="1">
          <a:blip r:embed="rId3"/>
          <a:srcRect l="0" t="0" r="0" b="0"/>
          <a:stretch/>
        </p:blipFill>
        <p:spPr bwMode="auto">
          <a:xfrm>
            <a:off x="5760720" y="2194560"/>
            <a:ext cx="5852160" cy="3200400"/>
          </a:xfrm>
          <a:prstGeom prst="rect">
            <a:avLst/>
          </a:prstGeom>
        </p:spPr>
      </p:pic>
      <p:sp>
        <p:nvSpPr>
          <p:cNvPr id="189297719" name="Text 3"/>
          <p:cNvSpPr/>
          <p:nvPr/>
        </p:nvSpPr>
        <p:spPr bwMode="auto"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City Hotel · 53.050 reservas · 30,07% cancelación</a:t>
            </a:r>
            <a:endParaRPr lang="en-US" sz="950"/>
          </a:p>
        </p:txBody>
      </p:sp>
      <p:sp>
        <p:nvSpPr>
          <p:cNvPr id="1368665170" name="Text 4"/>
          <p:cNvSpPr/>
          <p:nvPr/>
        </p:nvSpPr>
        <p:spPr bwMode="auto"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484374" name="Text 0"/>
          <p:cNvSpPr/>
          <p:nvPr/>
        </p:nvSpPr>
        <p:spPr bwMode="auto"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E2711D"/>
                </a:solidFill>
                <a:latin typeface="Calibri"/>
                <a:ea typeface="Calibri"/>
                <a:cs typeface="Calibri"/>
              </a:rPr>
              <a:t>EL PERFIL DE MÁXIMO RIESGO</a:t>
            </a:r>
            <a:endParaRPr lang="en-US" sz="1200"/>
          </a:p>
        </p:txBody>
      </p:sp>
      <p:sp>
        <p:nvSpPr>
          <p:cNvPr id="2130764452" name="Text 1"/>
          <p:cNvSpPr/>
          <p:nvPr/>
        </p:nvSpPr>
        <p:spPr bwMode="auto">
          <a:xfrm>
            <a:off x="566928" y="713232"/>
            <a:ext cx="11055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  <a:defRPr/>
            </a:pPr>
            <a:r>
              <a:rPr lang="en-US" sz="2700" b="1">
                <a:solidFill>
                  <a:srgbClr val="1B2A4A"/>
                </a:solidFill>
                <a:latin typeface="Georgia"/>
                <a:ea typeface="Georgia"/>
                <a:cs typeface="Georgia"/>
              </a:rPr>
              <a:t>Online TA + reserva con &gt;90 días = 45% de cancelación</a:t>
            </a:r>
            <a:endParaRPr lang="en-US" sz="2700"/>
          </a:p>
        </p:txBody>
      </p:sp>
      <p:sp>
        <p:nvSpPr>
          <p:cNvPr id="798782971" name="Shape 2"/>
          <p:cNvSpPr/>
          <p:nvPr/>
        </p:nvSpPr>
        <p:spPr bwMode="auto">
          <a:xfrm>
            <a:off x="566928" y="2103120"/>
            <a:ext cx="4754880" cy="3246120"/>
          </a:xfrm>
          <a:prstGeom prst="rect">
            <a:avLst/>
          </a:prstGeom>
          <a:solidFill>
            <a:srgbClr val="E2711D"/>
          </a:solidFill>
          <a:ln/>
        </p:spPr>
      </p:sp>
      <p:sp>
        <p:nvSpPr>
          <p:cNvPr id="2012400220" name="Text 3"/>
          <p:cNvSpPr/>
          <p:nvPr/>
        </p:nvSpPr>
        <p:spPr bwMode="auto">
          <a:xfrm>
            <a:off x="566928" y="25146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44,70%</a:t>
            </a:r>
            <a:endParaRPr lang="en-US" sz="7600"/>
          </a:p>
        </p:txBody>
      </p:sp>
      <p:sp>
        <p:nvSpPr>
          <p:cNvPr id="1336307679" name="Text 4"/>
          <p:cNvSpPr/>
          <p:nvPr/>
        </p:nvSpPr>
        <p:spPr bwMode="auto">
          <a:xfrm>
            <a:off x="841248" y="41148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3,1× el grupo de menor riesgo (14,37%)</a:t>
            </a:r>
            <a:endParaRPr lang="en-US" sz="1500"/>
          </a:p>
          <a:p>
            <a:pPr marL="0" indent="0" algn="ctr">
              <a:buNone/>
              <a:defRPr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Las señales se potencian, no se suman.</a:t>
            </a:r>
            <a:endParaRPr lang="en-US" sz="1500"/>
          </a:p>
        </p:txBody>
      </p:sp>
      <p:pic>
        <p:nvPicPr>
          <p:cNvPr id="568614635" name="Image 0" descr="charts/matriz.png"/>
          <p:cNvPicPr>
            <a:picLocks noChangeAspect="1"/>
          </p:cNvPicPr>
          <p:nvPr/>
        </p:nvPicPr>
        <p:blipFill rotWithShape="1">
          <a:blip r:embed="rId3"/>
          <a:srcRect l="0" t="0" r="0" b="0"/>
          <a:stretch/>
        </p:blipFill>
        <p:spPr bwMode="auto">
          <a:xfrm>
            <a:off x="5760720" y="2103120"/>
            <a:ext cx="5852160" cy="3246120"/>
          </a:xfrm>
          <a:prstGeom prst="rect">
            <a:avLst/>
          </a:prstGeom>
        </p:spPr>
      </p:pic>
      <p:sp>
        <p:nvSpPr>
          <p:cNvPr id="356139179" name="Text 5"/>
          <p:cNvSpPr/>
          <p:nvPr/>
        </p:nvSpPr>
        <p:spPr bwMode="auto"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City Hotel · 53.050 reservas · 30,07% cancelación</a:t>
            </a:r>
            <a:endParaRPr lang="en-US" sz="950"/>
          </a:p>
        </p:txBody>
      </p:sp>
      <p:sp>
        <p:nvSpPr>
          <p:cNvPr id="1963423375" name="Text 6"/>
          <p:cNvSpPr/>
          <p:nvPr/>
        </p:nvSpPr>
        <p:spPr bwMode="auto"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629575" name="Text 0"/>
          <p:cNvSpPr/>
          <p:nvPr/>
        </p:nvSpPr>
        <p:spPr bwMode="auto"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POR QUÉ IMPORTA</a:t>
            </a:r>
            <a:endParaRPr lang="en-US" sz="1200"/>
          </a:p>
        </p:txBody>
      </p:sp>
      <p:sp>
        <p:nvSpPr>
          <p:cNvPr id="2033482610" name="Text 1"/>
          <p:cNvSpPr/>
          <p:nvPr/>
        </p:nvSpPr>
        <p:spPr bwMode="auto">
          <a:xfrm>
            <a:off x="566928" y="713232"/>
            <a:ext cx="11055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  <a:defRPr/>
            </a:pPr>
            <a:r>
              <a:rPr lang="en-US" sz="2700" b="1">
                <a:solidFill>
                  <a:srgbClr val="1B2A4A"/>
                </a:solidFill>
                <a:latin typeface="Georgia"/>
                <a:ea typeface="Georgia"/>
                <a:cs typeface="Georgia"/>
              </a:rPr>
              <a:t>Ese único perfil = 23% de las reservas, pero 34% de las cancelaciones</a:t>
            </a:r>
            <a:endParaRPr lang="en-US" sz="2700"/>
          </a:p>
        </p:txBody>
      </p:sp>
      <p:sp>
        <p:nvSpPr>
          <p:cNvPr id="2029484120" name="Shape 2"/>
          <p:cNvSpPr/>
          <p:nvPr/>
        </p:nvSpPr>
        <p:spPr bwMode="auto">
          <a:xfrm>
            <a:off x="566928" y="2377440"/>
            <a:ext cx="484632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561030473" name="Text 3"/>
          <p:cNvSpPr/>
          <p:nvPr/>
        </p:nvSpPr>
        <p:spPr bwMode="auto">
          <a:xfrm>
            <a:off x="566928" y="26060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6000" b="1">
                <a:solidFill>
                  <a:srgbClr val="0E7C7B"/>
                </a:solidFill>
                <a:latin typeface="Georgia"/>
                <a:ea typeface="Georgia"/>
                <a:cs typeface="Georgia"/>
              </a:rPr>
              <a:t>23%</a:t>
            </a:r>
            <a:endParaRPr lang="en-US" sz="6000"/>
          </a:p>
        </p:txBody>
      </p:sp>
      <p:sp>
        <p:nvSpPr>
          <p:cNvPr id="1693821550" name="Text 4"/>
          <p:cNvSpPr/>
          <p:nvPr/>
        </p:nvSpPr>
        <p:spPr bwMode="auto">
          <a:xfrm>
            <a:off x="841248" y="38404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del volumen de reservas</a:t>
            </a:r>
            <a:endParaRPr lang="en-US" sz="1400"/>
          </a:p>
        </p:txBody>
      </p:sp>
      <p:sp>
        <p:nvSpPr>
          <p:cNvPr id="611973333" name="Shape 5"/>
          <p:cNvSpPr/>
          <p:nvPr/>
        </p:nvSpPr>
        <p:spPr bwMode="auto">
          <a:xfrm>
            <a:off x="6766560" y="2377440"/>
            <a:ext cx="484632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672351202" name="Text 6"/>
          <p:cNvSpPr/>
          <p:nvPr/>
        </p:nvSpPr>
        <p:spPr bwMode="auto">
          <a:xfrm>
            <a:off x="6766560" y="26060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6000" b="1">
                <a:solidFill>
                  <a:srgbClr val="E2711D"/>
                </a:solidFill>
                <a:latin typeface="Georgia"/>
                <a:ea typeface="Georgia"/>
                <a:cs typeface="Georgia"/>
              </a:rPr>
              <a:t>34%</a:t>
            </a:r>
            <a:endParaRPr lang="en-US" sz="6000"/>
          </a:p>
        </p:txBody>
      </p:sp>
      <p:sp>
        <p:nvSpPr>
          <p:cNvPr id="1599751784" name="Text 7"/>
          <p:cNvSpPr/>
          <p:nvPr/>
        </p:nvSpPr>
        <p:spPr bwMode="auto">
          <a:xfrm>
            <a:off x="7040880" y="38404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 TODAS las cancelaciones</a:t>
            </a:r>
            <a:endParaRPr lang="en-US" sz="1400"/>
          </a:p>
        </p:txBody>
      </p:sp>
      <p:sp>
        <p:nvSpPr>
          <p:cNvPr id="1478225542" name="Text 8"/>
          <p:cNvSpPr/>
          <p:nvPr/>
        </p:nvSpPr>
        <p:spPr bwMode="auto">
          <a:xfrm>
            <a:off x="566928" y="502920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i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Actuar solo sobre ese grupo ataca un tercio del problema con menos de un cuarto del volumen. Foco, no dispersión.</a:t>
            </a:r>
            <a:endParaRPr lang="en-US" sz="1500"/>
          </a:p>
        </p:txBody>
      </p:sp>
      <p:sp>
        <p:nvSpPr>
          <p:cNvPr id="1480421974" name="Text 9"/>
          <p:cNvSpPr/>
          <p:nvPr/>
        </p:nvSpPr>
        <p:spPr bwMode="auto"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City Hotel · 53.050 reservas · 30,07% cancelación</a:t>
            </a:r>
            <a:endParaRPr lang="en-US" sz="950"/>
          </a:p>
        </p:txBody>
      </p:sp>
      <p:sp>
        <p:nvSpPr>
          <p:cNvPr id="1767274074" name="Text 10"/>
          <p:cNvSpPr/>
          <p:nvPr/>
        </p:nvSpPr>
        <p:spPr bwMode="auto"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7854989" name="Text 0"/>
          <p:cNvSpPr/>
          <p:nvPr/>
        </p:nvSpPr>
        <p:spPr bwMode="auto"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RECOMENDACIONES</a:t>
            </a:r>
            <a:endParaRPr lang="en-US" sz="1200"/>
          </a:p>
        </p:txBody>
      </p:sp>
      <p:sp>
        <p:nvSpPr>
          <p:cNvPr id="1038348480" name="Text 1"/>
          <p:cNvSpPr/>
          <p:nvPr/>
        </p:nvSpPr>
        <p:spPr bwMode="auto">
          <a:xfrm>
            <a:off x="566928" y="713232"/>
            <a:ext cx="11055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  <a:defRPr/>
            </a:pPr>
            <a:r>
              <a:rPr lang="en-US" sz="2700" b="1">
                <a:solidFill>
                  <a:srgbClr val="1B2A4A"/>
                </a:solidFill>
                <a:latin typeface="Georgia"/>
                <a:ea typeface="Georgia"/>
                <a:cs typeface="Georgia"/>
              </a:rPr>
              <a:t>Tres palancas sobre el grupo de máximo riesgo</a:t>
            </a:r>
            <a:endParaRPr lang="en-US" sz="2700"/>
          </a:p>
        </p:txBody>
      </p:sp>
      <p:sp>
        <p:nvSpPr>
          <p:cNvPr id="864489979" name="Shape 2"/>
          <p:cNvSpPr/>
          <p:nvPr/>
        </p:nvSpPr>
        <p:spPr bwMode="auto">
          <a:xfrm>
            <a:off x="566928" y="2240280"/>
            <a:ext cx="341071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2058077303" name="Shape 3"/>
          <p:cNvSpPr/>
          <p:nvPr/>
        </p:nvSpPr>
        <p:spPr bwMode="auto">
          <a:xfrm>
            <a:off x="841248" y="251460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382750694" name="Text 4"/>
          <p:cNvSpPr/>
          <p:nvPr/>
        </p:nvSpPr>
        <p:spPr bwMode="auto">
          <a:xfrm>
            <a:off x="841248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</a:t>
            </a:r>
            <a:endParaRPr lang="en-US" sz="2400"/>
          </a:p>
        </p:txBody>
      </p:sp>
      <p:sp>
        <p:nvSpPr>
          <p:cNvPr id="1290299458" name="Text 5"/>
          <p:cNvSpPr/>
          <p:nvPr/>
        </p:nvSpPr>
        <p:spPr bwMode="auto">
          <a:xfrm>
            <a:off x="841248" y="3337560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1B2A4A"/>
                </a:solidFill>
                <a:latin typeface="Georgia"/>
                <a:ea typeface="Georgia"/>
                <a:cs typeface="Georgia"/>
              </a:rPr>
              <a:t>Confirmación escalonada</a:t>
            </a:r>
            <a:endParaRPr lang="en-US" sz="1700"/>
          </a:p>
        </p:txBody>
      </p:sp>
      <p:sp>
        <p:nvSpPr>
          <p:cNvPr id="1935685203" name="Text 6"/>
          <p:cNvSpPr/>
          <p:nvPr/>
        </p:nvSpPr>
        <p:spPr bwMode="auto">
          <a:xfrm>
            <a:off x="841248" y="4023360"/>
            <a:ext cx="2862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Recordatorios a 60 y 30 días en reservas Online TA con +90 días de antelación, para detectar bajas a tiempo.</a:t>
            </a:r>
            <a:endParaRPr lang="en-US" sz="1300"/>
          </a:p>
        </p:txBody>
      </p:sp>
      <p:sp>
        <p:nvSpPr>
          <p:cNvPr id="1517612499" name="Shape 7"/>
          <p:cNvSpPr/>
          <p:nvPr/>
        </p:nvSpPr>
        <p:spPr bwMode="auto">
          <a:xfrm>
            <a:off x="4389120" y="2240280"/>
            <a:ext cx="341071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470870208" name="Shape 8"/>
          <p:cNvSpPr/>
          <p:nvPr/>
        </p:nvSpPr>
        <p:spPr bwMode="auto">
          <a:xfrm>
            <a:off x="4663440" y="251460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728173958" name="Text 9"/>
          <p:cNvSpPr/>
          <p:nvPr/>
        </p:nvSpPr>
        <p:spPr bwMode="auto">
          <a:xfrm>
            <a:off x="466344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</a:t>
            </a:r>
            <a:endParaRPr lang="en-US" sz="2400"/>
          </a:p>
        </p:txBody>
      </p:sp>
      <p:sp>
        <p:nvSpPr>
          <p:cNvPr id="38184795" name="Text 10"/>
          <p:cNvSpPr/>
          <p:nvPr/>
        </p:nvSpPr>
        <p:spPr bwMode="auto">
          <a:xfrm>
            <a:off x="4663440" y="3337560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1B2A4A"/>
                </a:solidFill>
                <a:latin typeface="Georgia"/>
                <a:ea typeface="Georgia"/>
                <a:cs typeface="Georgia"/>
              </a:rPr>
              <a:t>Engagement pre-llegada</a:t>
            </a:r>
            <a:endParaRPr lang="en-US" sz="1700"/>
          </a:p>
        </p:txBody>
      </p:sp>
      <p:sp>
        <p:nvSpPr>
          <p:cNvPr id="149967730" name="Text 11"/>
          <p:cNvSpPr/>
          <p:nvPr/>
        </p:nvSpPr>
        <p:spPr bwMode="auto">
          <a:xfrm>
            <a:off x="4663440" y="4023360"/>
            <a:ext cx="2862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Impulsar peticiones, upgrades y check-in online: más interacción, menos cancelación.</a:t>
            </a:r>
            <a:endParaRPr lang="en-US" sz="1300"/>
          </a:p>
        </p:txBody>
      </p:sp>
      <p:sp>
        <p:nvSpPr>
          <p:cNvPr id="394345938" name="Shape 12"/>
          <p:cNvSpPr/>
          <p:nvPr/>
        </p:nvSpPr>
        <p:spPr bwMode="auto">
          <a:xfrm>
            <a:off x="8211312" y="2240280"/>
            <a:ext cx="341071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381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371303986" name="Shape 13"/>
          <p:cNvSpPr/>
          <p:nvPr/>
        </p:nvSpPr>
        <p:spPr bwMode="auto">
          <a:xfrm>
            <a:off x="8485632" y="251460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915684782" name="Text 14"/>
          <p:cNvSpPr/>
          <p:nvPr/>
        </p:nvSpPr>
        <p:spPr bwMode="auto">
          <a:xfrm>
            <a:off x="8485632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</a:t>
            </a:r>
            <a:endParaRPr lang="en-US" sz="2400"/>
          </a:p>
        </p:txBody>
      </p:sp>
      <p:sp>
        <p:nvSpPr>
          <p:cNvPr id="1233304277" name="Text 15"/>
          <p:cNvSpPr/>
          <p:nvPr/>
        </p:nvSpPr>
        <p:spPr bwMode="auto">
          <a:xfrm>
            <a:off x="8485632" y="3337560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1B2A4A"/>
                </a:solidFill>
                <a:latin typeface="Georgia"/>
                <a:ea typeface="Georgia"/>
                <a:cs typeface="Georgia"/>
              </a:rPr>
              <a:t>Garantía por riesgo</a:t>
            </a:r>
            <a:endParaRPr lang="en-US" sz="1700"/>
          </a:p>
        </p:txBody>
      </p:sp>
      <p:sp>
        <p:nvSpPr>
          <p:cNvPr id="526662096" name="Text 16"/>
          <p:cNvSpPr/>
          <p:nvPr/>
        </p:nvSpPr>
        <p:spPr bwMode="auto">
          <a:xfrm>
            <a:off x="8485632" y="4023360"/>
            <a:ext cx="2862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Flexibilidad y ofertas según perfil, no un Non Refund universal: el depósito no es la causa.</a:t>
            </a:r>
            <a:endParaRPr lang="en-US" sz="1300"/>
          </a:p>
        </p:txBody>
      </p:sp>
      <p:sp>
        <p:nvSpPr>
          <p:cNvPr id="1946961491" name="Text 17"/>
          <p:cNvSpPr/>
          <p:nvPr/>
        </p:nvSpPr>
        <p:spPr bwMode="auto"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City Hotel · 53.050 reservas · 30,07% cancelación</a:t>
            </a:r>
            <a:endParaRPr lang="en-US" sz="950"/>
          </a:p>
        </p:txBody>
      </p:sp>
      <p:sp>
        <p:nvSpPr>
          <p:cNvPr id="2142666033" name="Text 18"/>
          <p:cNvSpPr/>
          <p:nvPr/>
        </p:nvSpPr>
        <p:spPr bwMode="auto"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12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802495" name="Text 0"/>
          <p:cNvSpPr/>
          <p:nvPr/>
        </p:nvSpPr>
        <p:spPr bwMode="auto"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PRÓXIMOS PASOS</a:t>
            </a:r>
            <a:endParaRPr lang="en-US" sz="1200"/>
          </a:p>
        </p:txBody>
      </p:sp>
      <p:sp>
        <p:nvSpPr>
          <p:cNvPr id="334651309" name="Text 1"/>
          <p:cNvSpPr/>
          <p:nvPr/>
        </p:nvSpPr>
        <p:spPr bwMode="auto">
          <a:xfrm>
            <a:off x="566928" y="713232"/>
            <a:ext cx="11055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  <a:defRPr/>
            </a:pPr>
            <a:r>
              <a:rPr lang="en-US" sz="2700" b="1">
                <a:solidFill>
                  <a:srgbClr val="1B2A4A"/>
                </a:solidFill>
                <a:latin typeface="Georgia"/>
                <a:ea typeface="Georgia"/>
                <a:cs typeface="Georgia"/>
              </a:rPr>
              <a:t>Medir, no solo observar</a:t>
            </a:r>
            <a:endParaRPr lang="en-US" sz="2700"/>
          </a:p>
        </p:txBody>
      </p:sp>
      <p:sp>
        <p:nvSpPr>
          <p:cNvPr id="752468401" name="Shape 2"/>
          <p:cNvSpPr/>
          <p:nvPr/>
        </p:nvSpPr>
        <p:spPr bwMode="auto">
          <a:xfrm>
            <a:off x="566928" y="2194560"/>
            <a:ext cx="11055096" cy="8686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0810265" name="Shape 3"/>
          <p:cNvSpPr/>
          <p:nvPr/>
        </p:nvSpPr>
        <p:spPr bwMode="auto">
          <a:xfrm>
            <a:off x="566928" y="2194560"/>
            <a:ext cx="109728" cy="8686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80222787" name="Text 4"/>
          <p:cNvSpPr/>
          <p:nvPr/>
        </p:nvSpPr>
        <p:spPr bwMode="auto">
          <a:xfrm>
            <a:off x="886968" y="2194560"/>
            <a:ext cx="10415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 xml:space="preserve">Test A/B   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Probar el recordatorio escalonado sobre el segmento de riesgo y medir el efecto real.</a:t>
            </a:r>
            <a:endParaRPr lang="en-US" sz="1600"/>
          </a:p>
        </p:txBody>
      </p:sp>
      <p:sp>
        <p:nvSpPr>
          <p:cNvPr id="1290237727" name="Shape 5"/>
          <p:cNvSpPr/>
          <p:nvPr/>
        </p:nvSpPr>
        <p:spPr bwMode="auto">
          <a:xfrm>
            <a:off x="566928" y="3246120"/>
            <a:ext cx="11055096" cy="8686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7225042" name="Shape 6"/>
          <p:cNvSpPr/>
          <p:nvPr/>
        </p:nvSpPr>
        <p:spPr bwMode="auto">
          <a:xfrm>
            <a:off x="566928" y="3246120"/>
            <a:ext cx="109728" cy="8686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779302214" name="Text 7"/>
          <p:cNvSpPr/>
          <p:nvPr/>
        </p:nvSpPr>
        <p:spPr bwMode="auto">
          <a:xfrm>
            <a:off x="886968" y="3246120"/>
            <a:ext cx="10415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 xml:space="preserve">Capturar la fecha de cancelación   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Distinguir bajas tempranas de tardías — hoy no se puede separar.</a:t>
            </a:r>
            <a:endParaRPr lang="en-US" sz="1600"/>
          </a:p>
        </p:txBody>
      </p:sp>
      <p:sp>
        <p:nvSpPr>
          <p:cNvPr id="1384964822" name="Shape 8"/>
          <p:cNvSpPr/>
          <p:nvPr/>
        </p:nvSpPr>
        <p:spPr bwMode="auto">
          <a:xfrm>
            <a:off x="566928" y="4297680"/>
            <a:ext cx="11055096" cy="8686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5763496" name="Shape 9"/>
          <p:cNvSpPr/>
          <p:nvPr/>
        </p:nvSpPr>
        <p:spPr bwMode="auto">
          <a:xfrm>
            <a:off x="566928" y="4297680"/>
            <a:ext cx="109728" cy="8686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67997503" name="Text 10"/>
          <p:cNvSpPr/>
          <p:nvPr/>
        </p:nvSpPr>
        <p:spPr bwMode="auto">
          <a:xfrm>
            <a:off x="886968" y="4297680"/>
            <a:ext cx="10415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 xml:space="preserve">Ampliar el alcance   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Sumar más años y otros hoteles para validar que el patrón se mantiene.</a:t>
            </a:r>
            <a:endParaRPr lang="en-US" sz="1600"/>
          </a:p>
        </p:txBody>
      </p:sp>
      <p:sp>
        <p:nvSpPr>
          <p:cNvPr id="1647857408" name="Text 11"/>
          <p:cNvSpPr/>
          <p:nvPr/>
        </p:nvSpPr>
        <p:spPr bwMode="auto"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City Hotel · 53.050 reservas · 30,07% cancelación</a:t>
            </a:r>
            <a:endParaRPr lang="en-US" sz="950"/>
          </a:p>
        </p:txBody>
      </p:sp>
      <p:sp>
        <p:nvSpPr>
          <p:cNvPr id="1376851511" name="Text 12"/>
          <p:cNvSpPr/>
          <p:nvPr/>
        </p:nvSpPr>
        <p:spPr bwMode="auto"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13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08371" name="Text 0"/>
          <p:cNvSpPr/>
          <p:nvPr/>
        </p:nvSpPr>
        <p:spPr bwMode="auto"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LIMITACIONES</a:t>
            </a:r>
            <a:endParaRPr lang="en-US" sz="1200"/>
          </a:p>
        </p:txBody>
      </p:sp>
      <p:sp>
        <p:nvSpPr>
          <p:cNvPr id="321497591" name="Text 1"/>
          <p:cNvSpPr/>
          <p:nvPr/>
        </p:nvSpPr>
        <p:spPr bwMode="auto">
          <a:xfrm>
            <a:off x="566928" y="713232"/>
            <a:ext cx="11055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  <a:defRPr/>
            </a:pPr>
            <a:r>
              <a:rPr lang="en-US" sz="2700" b="1">
                <a:solidFill>
                  <a:srgbClr val="1B2A4A"/>
                </a:solidFill>
                <a:latin typeface="Georgia"/>
                <a:ea typeface="Georgia"/>
                <a:cs typeface="Georgia"/>
              </a:rPr>
              <a:t>Qué NO dicen estos datos</a:t>
            </a:r>
            <a:endParaRPr lang="en-US" sz="2700"/>
          </a:p>
        </p:txBody>
      </p:sp>
      <p:sp>
        <p:nvSpPr>
          <p:cNvPr id="1359797743" name="Text 2"/>
          <p:cNvSpPr/>
          <p:nvPr/>
        </p:nvSpPr>
        <p:spPr bwMode="auto">
          <a:xfrm>
            <a:off x="566928" y="2240280"/>
            <a:ext cx="1105509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Un solo hotel (City Hotel, Lisboa): no generalizable a otros establecimientos.</a:t>
            </a:r>
            <a:endParaRPr lang="en-US" sz="150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Ventana de 26 meses (jul 2015 – ago 2017); sin estacionalidad de largo plazo.</a:t>
            </a:r>
            <a:endParaRPr lang="en-US" sz="150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Todo son asociaciones, no relaciones causales demostradas.</a:t>
            </a:r>
            <a:endParaRPr lang="en-US" sz="150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Non Refund no es evaluable causalmente (grupo auto-seleccionado por antelación).</a:t>
            </a:r>
            <a:endParaRPr lang="en-US" sz="150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ADR usado como proxy de precio; no incluye descuentos ni canal de tarifa.</a:t>
            </a:r>
            <a:endParaRPr lang="en-US" sz="1500"/>
          </a:p>
        </p:txBody>
      </p:sp>
      <p:sp>
        <p:nvSpPr>
          <p:cNvPr id="825621789" name="Text 3"/>
          <p:cNvSpPr/>
          <p:nvPr/>
        </p:nvSpPr>
        <p:spPr bwMode="auto"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City Hotel · 53.050 reservas · 30,07% cancelación</a:t>
            </a:r>
            <a:endParaRPr lang="en-US" sz="950"/>
          </a:p>
        </p:txBody>
      </p:sp>
      <p:sp>
        <p:nvSpPr>
          <p:cNvPr id="340319089" name="Text 4"/>
          <p:cNvSpPr/>
          <p:nvPr/>
        </p:nvSpPr>
        <p:spPr bwMode="auto"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14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1624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110905" name="Shape 0"/>
          <p:cNvSpPr/>
          <p:nvPr/>
        </p:nvSpPr>
        <p:spPr bwMode="auto">
          <a:xfrm>
            <a:off x="0" y="0"/>
            <a:ext cx="256032" cy="68580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15336564" name="Text 1"/>
          <p:cNvSpPr/>
          <p:nvPr/>
        </p:nvSpPr>
        <p:spPr bwMode="auto"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0E7C7B"/>
                </a:solidFill>
                <a:latin typeface="Calibri"/>
                <a:ea typeface="Calibri"/>
                <a:cs typeface="Calibri"/>
              </a:rPr>
              <a:t>APÉNDICE · SOPORTE</a:t>
            </a:r>
            <a:endParaRPr lang="en-US" sz="1300"/>
          </a:p>
        </p:txBody>
      </p:sp>
      <p:sp>
        <p:nvSpPr>
          <p:cNvPr id="1677322151" name="Text 2"/>
          <p:cNvSpPr/>
          <p:nvPr/>
        </p:nvSpPr>
        <p:spPr bwMode="auto">
          <a:xfrm>
            <a:off x="822960" y="1691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Reproducibilidad y soporte</a:t>
            </a:r>
            <a:endParaRPr lang="en-US" sz="3400"/>
          </a:p>
        </p:txBody>
      </p:sp>
      <p:sp>
        <p:nvSpPr>
          <p:cNvPr id="260152489" name="Text 3"/>
          <p:cNvSpPr/>
          <p:nvPr/>
        </p:nvSpPr>
        <p:spPr bwMode="auto">
          <a:xfrm>
            <a:off x="822960" y="2743200"/>
            <a:ext cx="10607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  <a:defRPr/>
            </a:pPr>
            <a:r>
              <a:rPr lang="en-US" sz="1500" b="1">
                <a:solidFill>
                  <a:schemeClr val="bg1">
                    <a:lumMod val="85000"/>
                  </a:schemeClr>
                </a:solidFill>
                <a:latin typeface="Calibri"/>
                <a:ea typeface="Calibri"/>
                <a:cs typeface="Calibri"/>
              </a:rPr>
              <a:t>Dashboard interactivo (Tableau Public):</a:t>
            </a:r>
            <a:endParaRPr sz="150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spcAft>
                <a:spcPts val="1000"/>
              </a:spcAft>
              <a:buNone/>
              <a:defRPr/>
            </a:pPr>
            <a:r>
              <a:rPr lang="en-US" sz="1200" u="sng">
                <a:solidFill>
                  <a:srgbClr val="5CE1E6"/>
                </a:solidFill>
                <a:latin typeface="Calibri"/>
                <a:ea typeface="Calibri"/>
                <a:cs typeface="Calibri"/>
                <a:hlinkClick r:id="rId3" tooltip=""/>
              </a:rPr>
              <a:t>https://public.tableau.com/app/profile/gonzalo.gil.pereira2437/viz/CityHotelFactoresdecancelacindereservas/Factoresdecancelacin</a:t>
            </a:r>
            <a:endParaRPr sz="1500">
              <a:solidFill>
                <a:schemeClr val="bg1">
                  <a:lumMod val="85000"/>
                </a:schemeClr>
              </a:solidFill>
            </a:endParaRPr>
          </a:p>
          <a:p>
            <a:pPr marL="177800" indent="-177800">
              <a:spcAft>
                <a:spcPts val="1000"/>
              </a:spcAft>
              <a:buSzPct val="100000"/>
              <a:buChar char="•"/>
              <a:defRPr/>
            </a:pPr>
            <a:r>
              <a:rPr lang="en-US" sz="1500">
                <a:solidFill>
                  <a:schemeClr val="bg1">
                    <a:lumMod val="85000"/>
                  </a:schemeClr>
                </a:solidFill>
                <a:latin typeface="Calibri"/>
                <a:ea typeface="Calibri"/>
                <a:cs typeface="Calibri"/>
              </a:rPr>
              <a:t>Análisis SQL:  sql/04_analyze.sql (DuckDB) + notebook 03_analyze</a:t>
            </a:r>
            <a:endParaRPr sz="1500">
              <a:solidFill>
                <a:schemeClr val="bg1">
                  <a:lumMod val="85000"/>
                </a:schemeClr>
              </a:solidFill>
            </a:endParaRPr>
          </a:p>
          <a:p>
            <a:pPr marL="177800" indent="-177800">
              <a:spcAft>
                <a:spcPts val="1000"/>
              </a:spcAft>
              <a:buSzPct val="100000"/>
              <a:buChar char="•"/>
              <a:defRPr/>
            </a:pPr>
            <a:r>
              <a:rPr lang="en-US" sz="1500">
                <a:solidFill>
                  <a:schemeClr val="bg1">
                    <a:lumMod val="85000"/>
                  </a:schemeClr>
                </a:solidFill>
                <a:latin typeface="Calibri"/>
                <a:ea typeface="Calibri"/>
                <a:cs typeface="Calibri"/>
              </a:rPr>
              <a:t>Señal secundaria — 1 cancelación previa: 80,35% de recancelación, independiente del depósito (Q13b, Q14).</a:t>
            </a:r>
            <a:endParaRPr sz="1500">
              <a:solidFill>
                <a:schemeClr val="bg1">
                  <a:lumMod val="85000"/>
                </a:schemeClr>
              </a:solidFill>
            </a:endParaRPr>
          </a:p>
          <a:p>
            <a:pPr marL="177800" indent="-177800">
              <a:spcAft>
                <a:spcPts val="1000"/>
              </a:spcAft>
              <a:buSzPct val="100000"/>
              <a:buChar char="•"/>
              <a:defRPr/>
            </a:pPr>
            <a:r>
              <a:rPr lang="en-US" sz="1500">
                <a:solidFill>
                  <a:schemeClr val="bg1">
                    <a:lumMod val="85000"/>
                  </a:schemeClr>
                </a:solidFill>
                <a:latin typeface="Calibri"/>
                <a:ea typeface="Calibri"/>
                <a:cs typeface="Calibri"/>
              </a:rPr>
              <a:t>Dataset: Antonio, de Almeida &amp; Nunes (2019), Data in Brief — City Hotel = Lisboa, Resort = Algarve (ubicación del paper, no del CSV).</a:t>
            </a:r>
            <a:endParaRPr sz="1500">
              <a:solidFill>
                <a:schemeClr val="bg1">
                  <a:lumMod val="85000"/>
                </a:schemeClr>
              </a:solidFill>
            </a:endParaRPr>
          </a:p>
          <a:p>
            <a:pPr marL="177799" indent="-177799">
              <a:spcAft>
                <a:spcPts val="999"/>
              </a:spcAft>
              <a:buSzPct val="100000"/>
              <a:buChar char="•"/>
              <a:defRPr/>
            </a:pPr>
            <a:r>
              <a:rPr lang="es-ES" sz="1500" b="0" i="0" u="none" strike="noStrike" cap="none" spc="0">
                <a:solidFill>
                  <a:schemeClr val="bg1">
                    <a:lumMod val="85000"/>
                  </a:schemeClr>
                </a:solidFill>
                <a:latin typeface="Calibri"/>
                <a:ea typeface="Calibri"/>
                <a:cs typeface="Calibri"/>
              </a:rPr>
              <a:t>R</a:t>
            </a:r>
            <a:r>
              <a:rPr lang="en-US" sz="1500" b="0" i="0" u="none" strike="noStrike" cap="none" spc="0">
                <a:solidFill>
                  <a:schemeClr val="bg1">
                    <a:lumMod val="85000"/>
                  </a:schemeClr>
                </a:solidFill>
                <a:latin typeface="Calibri"/>
                <a:ea typeface="Calibri"/>
                <a:cs typeface="Calibri"/>
              </a:rPr>
              <a:t xml:space="preserve">epositorio </a:t>
            </a:r>
            <a:r>
              <a:rPr lang="en-US" sz="1500" b="0" i="0" u="none" strike="noStrike" cap="none" spc="0">
                <a:solidFill>
                  <a:schemeClr val="bg1">
                    <a:lumMod val="85000"/>
                  </a:schemeClr>
                </a:solidFill>
                <a:latin typeface="Calibri"/>
                <a:ea typeface="Calibri"/>
                <a:cs typeface="Calibri"/>
              </a:rPr>
              <a:t xml:space="preserve">(código + análisis):  </a:t>
            </a:r>
            <a:endParaRPr sz="1500" b="0" i="0" u="none" strike="noStrike" cap="none" spc="0">
              <a:solidFill>
                <a:schemeClr val="bg1">
                  <a:lumMod val="85000"/>
                </a:schemeClr>
              </a:solidFill>
              <a:latin typeface="Times New Roman"/>
              <a:cs typeface="Times New Roman"/>
            </a:endParaRPr>
          </a:p>
          <a:p>
            <a:pPr>
              <a:spcAft>
                <a:spcPts val="999"/>
              </a:spcAft>
              <a:defRPr/>
            </a:pPr>
            <a:r>
              <a:rPr lang="en-US" sz="1200" b="0" i="0" u="sng" strike="noStrike" cap="none" spc="0">
                <a:solidFill>
                  <a:srgbClr val="5CE1E6"/>
                </a:solidFill>
                <a:latin typeface="Calibri"/>
                <a:ea typeface="Calibri"/>
                <a:cs typeface="Calibri"/>
                <a:hlinkClick r:id="rId4" tooltip=""/>
              </a:rPr>
              <a:t>https://github.com/Gon</a:t>
            </a:r>
            <a:r>
              <a:rPr lang="en-US" sz="1200" b="0" i="0" u="sng" strike="noStrike" cap="none" spc="0">
                <a:solidFill>
                  <a:srgbClr val="5CE1E6"/>
                </a:solidFill>
                <a:latin typeface="Calibri"/>
                <a:ea typeface="Calibri"/>
                <a:cs typeface="Calibri"/>
                <a:hlinkClick r:id="rId4" tooltip=""/>
              </a:rPr>
              <a:t>zaloData</a:t>
            </a:r>
            <a:r>
              <a:rPr lang="en-US" sz="1200" b="0" i="0" u="sng" strike="noStrike" cap="none" spc="0">
                <a:solidFill>
                  <a:srgbClr val="5CE1E6"/>
                </a:solidFill>
                <a:latin typeface="Calibri"/>
                <a:ea typeface="Calibri"/>
                <a:cs typeface="Calibri"/>
                <a:hlinkClick r:id="rId4" tooltip=""/>
              </a:rPr>
              <a:t>/city-hotel-cancellation-analysis-es</a:t>
            </a:r>
            <a:endParaRPr sz="1200" u="sng">
              <a:solidFill>
                <a:srgbClr val="5CE1E6"/>
              </a:solidFill>
            </a:endParaRPr>
          </a:p>
          <a:p>
            <a:pPr>
              <a:defRPr/>
            </a:pPr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45102849" name="Text 4"/>
          <p:cNvSpPr/>
          <p:nvPr/>
        </p:nvSpPr>
        <p:spPr bwMode="auto"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Todo lo presentado es reproducible: cada cifra tiene su query.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?><Relationships xmlns="http://schemas.openxmlformats.org/package/2006/relationships"/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Factores de cancelacion - City Hotel</dc:title>
  <dc:subject>PptxGenJS Presentation</dc:subject>
  <dc:creator>Gonzalo</dc:creator>
  <cp:lastModifiedBy/>
  <cp:revision>2</cp:revision>
  <dcterms:created xsi:type="dcterms:W3CDTF">2026-06-16T23:06:27Z</dcterms:created>
  <dcterms:modified xsi:type="dcterms:W3CDTF">2026-06-18T12:22:43Z</dcterms:modified>
</cp:coreProperties>
</file>