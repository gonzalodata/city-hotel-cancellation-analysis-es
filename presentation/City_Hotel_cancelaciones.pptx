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hotel urbano de Lisboa cancela 3 de cada 10 reservas. Hoy os enseño quién las cancela, por qué, y dónde concentrar el esfuerzo.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 primer instinto fue causal y estaba equivocado: el cruce reveló selección. Las Non Refund son reservas de larguísima antelación. Por eso NO recomiendo imponer depósitos.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titular. Al combinar canal Online TA y antelación &gt;90 días la tasa salta al 44,7%, frente al 14,4% del grupo más seguro. Las señales interactúan.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hyperlink" Target="https://public.tableau.com/app/profile/gonzalo.gil.pereira2437/viz/CityHotelFactoresdecancelacindereservas/Factoresdecancelacin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DATA ANALYTICS · CASE STUDY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¿Quién cancela en el City Hotel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y por qué?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3749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Factores de cancelación en 53.050 reservas · julio 2015 – agosto 2017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Gonzalo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junio 2026   ·   Lisboa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recorrido de hoy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44168" y="19202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cada 10 reservas se cancelan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360152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807208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44168" y="276148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encontré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cancela y cuándo (segmento y antelación)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360152" y="280720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648456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44168" y="3602736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giro y lo que revela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que engañaba: asociación ≠ causa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360152" y="36484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489704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4489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344168" y="4443984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palancas sobre el grupo de riesgo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0360152" y="448970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5330952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5330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44168" y="528523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 + Q&amp;A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medir a continuación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0360152" y="533095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de cada 10 reservas se cancelan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4754880" cy="3291840"/>
          </a:xfrm>
          <a:prstGeom prst="rect">
            <a:avLst/>
          </a:prstGeom>
          <a:solidFill>
            <a:srgbClr val="16243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24688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30,07%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841248" y="40690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53.050 reservas terminaron canceladas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(City Hotel, 2015–2017)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760720" y="2286000"/>
            <a:ext cx="5852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cancelación = una habitación que se revende tarde o queda vacía.</a:t>
            </a:r>
            <a:endParaRPr lang="en-US" sz="16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directo en ingresos, overbooking y planificación de ocupación.</a:t>
            </a:r>
            <a:endParaRPr lang="en-US" sz="16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 que guía el análisis: ¿se puede anticipar qué reservas se caen?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LO ANALICÉ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53.050 reservas · 6 preguntas · SQL sobre DuckDB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2489454" cy="28346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2286000"/>
            <a:ext cx="2489454" cy="1097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2651760"/>
            <a:ext cx="2032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Datos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95528" y="3291840"/>
            <a:ext cx="20322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hotel de Lisboa; CSV limpio y documentado en el notebook.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2142" y="2286000"/>
            <a:ext cx="2489454" cy="28346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22142" y="2286000"/>
            <a:ext cx="2489454" cy="1097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3650742" y="2651760"/>
            <a:ext cx="2032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SQL reproducible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50742" y="3291840"/>
            <a:ext cx="20322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en DuckDB, auditadas 2× (pandas vs SQL).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77356" y="2286000"/>
            <a:ext cx="2489454" cy="28346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77356" y="2286000"/>
            <a:ext cx="2489454" cy="1097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6505956" y="2651760"/>
            <a:ext cx="2032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ejes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05956" y="3291840"/>
            <a:ext cx="20322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Segmento, antelación, depósito, precio (ADR), peticiones y cliente.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32570" y="2286000"/>
            <a:ext cx="2489454" cy="28346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32570" y="2286000"/>
            <a:ext cx="2489454" cy="1097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8" name="Text 16"/>
          <p:cNvSpPr/>
          <p:nvPr/>
        </p:nvSpPr>
        <p:spPr>
          <a:xfrm>
            <a:off x="9361170" y="2651760"/>
            <a:ext cx="2032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Trazable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61170" y="3291840"/>
            <a:ext cx="20322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cifra de la presentación tiene su query en el repo.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1 · CANAL DE VENTA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TA es el canal que más cancela: 36%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19456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canal de mayor tasa entre los segmentos grandes.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de mayor volumen (65% de las reservas): aporta el 79% de todas las cancelaciones.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 base rate: Groups (33,9%) y Aviation (19,9%) tienen muy pocos casos.</a:t>
            </a:r>
            <a:endParaRPr lang="en-US" sz="1500" dirty="0"/>
          </a:p>
        </p:txBody>
      </p:sp>
      <p:pic>
        <p:nvPicPr>
          <p:cNvPr id="5" name="Image 0" descr="charts/segm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2194560"/>
            <a:ext cx="585216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 · ANTELACIÓN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Cuanto antes se reserva, más se cancela: del 11% al 45%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19456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monotónica: a más antelación, más cancelación.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salto fuerte aparece a partir de los 90 días.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corte que usaré después: lead time &gt; 90 días.</a:t>
            </a:r>
            <a:endParaRPr lang="en-US" sz="1500" dirty="0"/>
          </a:p>
        </p:txBody>
      </p:sp>
      <p:pic>
        <p:nvPicPr>
          <p:cNvPr id="5" name="Image 0" descr="charts/le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2194560"/>
            <a:ext cx="585216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dato que parecía la respuesta: Non Refund cancela el 97%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1945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tipo de depósito, Non Refund cancela el 97,16% vs 29% sin depósito.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Instinto inicial: «exigir depósito no reembolsable dispara las cancelaciones».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617720"/>
            <a:ext cx="4937760" cy="777240"/>
          </a:xfrm>
          <a:prstGeom prst="rect">
            <a:avLst/>
          </a:prstGeom>
          <a:solidFill>
            <a:srgbClr val="FBE9D7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46177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27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¿Solución: poner depósitos? Antes de recomendarlo, miré quién hace esas reservas…</a:t>
            </a:r>
            <a:endParaRPr lang="en-US" sz="1300" dirty="0"/>
          </a:p>
        </p:txBody>
      </p:sp>
      <p:pic>
        <p:nvPicPr>
          <p:cNvPr id="7" name="Image 0" descr="charts/deposi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2194560"/>
            <a:ext cx="5852160" cy="3200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REVELACIÓN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 el depósito: son reservas hechas con ~6 meses de antelación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24028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mediana: 198,5 días en Non Refund vs 49 en el resto.</a:t>
            </a:r>
            <a:endParaRPr lang="en-US" sz="150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91% Groups + Offline TA/TO: un grupo auto-seleccionado de larga antelación.</a:t>
            </a:r>
            <a:endParaRPr lang="en-US" sz="150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depósito no causa la cancelación; acompaña a reservas que ya cancelan más.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09160"/>
            <a:ext cx="4937760" cy="7315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091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Asociación ≠ causalidad</a:t>
            </a:r>
            <a:endParaRPr lang="en-US" sz="2000" dirty="0"/>
          </a:p>
        </p:txBody>
      </p:sp>
      <p:pic>
        <p:nvPicPr>
          <p:cNvPr id="7" name="Image 0" descr="charts/antelac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2194560"/>
            <a:ext cx="5852160" cy="32004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 · PETICIONES ESPECIALES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peticiones especiales se cancela casi el doble (38% vs 22%)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19456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peticiones → 38,36% vs 1+ → 21,99% (1,74×).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grupo es el 49% del volumen y el 63% de las cancelaciones.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petición especial = señal de intención real de venir.</a:t>
            </a:r>
            <a:endParaRPr lang="en-US" sz="1500" dirty="0"/>
          </a:p>
        </p:txBody>
      </p:sp>
      <p:pic>
        <p:nvPicPr>
          <p:cNvPr id="5" name="Image 0" descr="charts/peticion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2194560"/>
            <a:ext cx="585216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PERFIL DE MÁXIMO RIESGO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TA + reserva con &gt;90 días = 45% de cancelación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4754880" cy="3246120"/>
          </a:xfrm>
          <a:prstGeom prst="rect">
            <a:avLst/>
          </a:prstGeom>
          <a:solidFill>
            <a:srgbClr val="E2711D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2514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44,70%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841248" y="41148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3,1× el grupo de menor riesgo (14,37%)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señales se potencian, no se suman.</a:t>
            </a:r>
            <a:endParaRPr lang="en-US" sz="1500" dirty="0"/>
          </a:p>
        </p:txBody>
      </p:sp>
      <p:pic>
        <p:nvPicPr>
          <p:cNvPr id="7" name="Image 0" descr="charts/matr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2103120"/>
            <a:ext cx="5852160" cy="32461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Ese único perfil = 23% de las reservas, pero 34% de las cancelaciones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377440"/>
            <a:ext cx="4846320" cy="22860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26060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23%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8404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volumen de reservas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66560" y="2377440"/>
            <a:ext cx="4846320" cy="22860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766560" y="26060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271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34%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7040880" y="38404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TODAS las cancelaciones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502920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 solo sobre ese grupo ataca un tercio del problema con menos de un cuarto del volumen. Foco, no dispersión.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Tres palancas sobre el grupo de máximo riesgo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240280"/>
            <a:ext cx="341071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51460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41248" y="3337560"/>
            <a:ext cx="2862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Confirmación escalonada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4023360"/>
            <a:ext cx="2862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Recordatorios a 60 y 30 días en reservas Online TA con +90 días de antelación, para detectar bajas a tiempo.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2240280"/>
            <a:ext cx="341071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51460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63440" y="3337560"/>
            <a:ext cx="2862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Engagement pre-llegada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63440" y="4023360"/>
            <a:ext cx="2862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Impulsar peticiones, upgrades y check-in online: más interacción, menos cancelación.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11312" y="2240280"/>
            <a:ext cx="341071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85632" y="251460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6" name="Text 14"/>
          <p:cNvSpPr/>
          <p:nvPr/>
        </p:nvSpPr>
        <p:spPr>
          <a:xfrm>
            <a:off x="848563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85632" y="3337560"/>
            <a:ext cx="2862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Garantía por riesgo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85632" y="4023360"/>
            <a:ext cx="2862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Flexibilidad y ofertas según perfil, no un Non Refund universal: el depósito no es la causa.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Medir, no solo observar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11055096" cy="8686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2194560"/>
            <a:ext cx="109728" cy="86868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2194560"/>
            <a:ext cx="10415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A/B 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el recordatorio escalonado sobre el segmento de riesgo y medir el efecto real.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3246120"/>
            <a:ext cx="11055096" cy="8686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246120"/>
            <a:ext cx="109728" cy="86868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3246120"/>
            <a:ext cx="10415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Capturar la fecha de cancelación 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bajas tempranas de tardías — hoy no se puede separar.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66928" y="4297680"/>
            <a:ext cx="11055096" cy="8686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4297680"/>
            <a:ext cx="109728" cy="86868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97680"/>
            <a:ext cx="10415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el alcance 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Sumar más años y otros hoteles para validar que el patrón se mantiene.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NO dicen estos datos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240280"/>
            <a:ext cx="1105509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hotel (City Hotel, Lisboa): no generalizable a otros establecimientos.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26 meses (jul 2015 – ago 2017); sin estacionalidad de largo plazo.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son asociaciones, no relaciones causales demostradas.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Refund no es evaluable causalmente (grupo auto-seleccionado por antelación).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usado como proxy de precio; no incluye descuentos ni canal de tarifa.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APÉNDICE · SOPORTE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Reproducibilidad y soporte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607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interactivo (Tableau Public):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u="sng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https://public.tableau.com/app/profile/gonzalo.gil.pereira2437/viz/CityHotelFactoresdecancelacindereservas/Factoresdecancelacin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SQL:  sql/04_analyze.sql (DuckDB) + notebook 03_analyze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 secundaria — 1 cancelación previa: 80,35% de recancelación, independiente del depósito (Q13b, Q14).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Antonio, de Almeida &amp; Nunes (2019), Data in Brief — City Hotel = Lisboa, Resort = Algarve (ubicación del paper, no del CSV).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presentado es reproducible: cada cifra tiene su query.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Factores de cancelacion - City Hotel</dc:title>
  <dc:subject>PptxGenJS Presentation</dc:subject>
  <dc:creator>Gonzalo</dc:creator>
  <cp:lastModifiedBy>Gonzalo</cp:lastModifiedBy>
  <cp:revision>1</cp:revision>
  <dcterms:created xsi:type="dcterms:W3CDTF">2026-06-16T23:06:27Z</dcterms:created>
  <dcterms:modified xsi:type="dcterms:W3CDTF">2026-06-16T23:06:27Z</dcterms:modified>
</cp:coreProperties>
</file>